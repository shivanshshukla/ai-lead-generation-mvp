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PRASUNETHON 2.0 • TEAM AVENGERS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ai-lead-generation-mvp.vercel.app/" TargetMode="External"/><Relationship Id="rId2" Type="http://schemas.openxmlformats.org/officeDocument/2006/relationships/hyperlink" Target="https://github.com/FasterThanAi/ai-lead-generation-mvp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https://ai-lead-generation-mvp.vercel.app/" TargetMode="External"/><Relationship Id="rId2" Type="http://schemas.openxmlformats.org/officeDocument/2006/relationships/hyperlink" Target="https://github.com/FasterThanAi/ai-lead-generation-mvp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65760"/>
            <a:ext cx="4389120" cy="4389120"/>
          </a:xfrm>
          <a:prstGeom prst="arc">
            <a:avLst/>
          </a:prstGeom>
          <a:noFill/>
          <a:ln w="12700">
            <a:solidFill>
              <a:srgbClr val="DBEAFE">
                <a:alpha val="6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601200" y="1051560"/>
            <a:ext cx="1371600" cy="1371600"/>
          </a:xfrm>
          <a:prstGeom prst="ellipse">
            <a:avLst/>
          </a:prstGeom>
          <a:solidFill>
            <a:srgbClr val="2563EB">
              <a:alpha val="9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PRASUNETHON 2.0 • FINAL PROJECT SUBMISSION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LeadGenAI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76072" y="1984248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AI-Powered Lead Generation &amp;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Sales Automation Platform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completed working MVP that connects lead discovery, research, scoring, personalized outreach, AI calling, knowledge retrieval and human-approved follow-up in one workflow.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434340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4402836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WORKING MVP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29968" y="434340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440283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VERCEL DEPLOYED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39312" y="4343400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440283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AI + AUTOMATION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Team Avengers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53766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Raj Gautam • Team Leader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Priyanshu Kumar • Member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Sampath Kumar Midde • Member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321040" y="47091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LIVE DEMO</a:t>
            </a:r>
            <a:endParaRPr lang="en-US" sz="85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8321040" y="4983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ai-lead-generation-mvp.vercel.app</a:t>
            </a:r>
            <a:endParaRPr lang="en-US" sz="95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8321040" y="53309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github.com/FasterThanAi/ai-lead-generation-mvp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01 •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Lead generation is fragmented long before the first conversation.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Teams spend time switching between discovery, enrichment, spreadsheets, AI tools, email, calling and follow-up. The result is slow qualification and inconsistent outreach.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958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0299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Finding the right lead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316382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Search is scattered across public websites, CSVs and manual research. Contact data may be incomplete or inconsistent.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52958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9704" y="2039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0299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Deciding who matters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2569464"/>
            <a:ext cx="316382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Sales teams need a repeatable way to prioritize fit, explain the score, identify pain points and choose an outreach angle.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52958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039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59952" y="20299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Following up safely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84464" y="2569464"/>
            <a:ext cx="3163824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Email replies, AI drafts, calls and follow-ups require review, context and clear next actions — not uncontrolled automation.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66928" y="4133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</a:rPr>
              <a:t>CORE CHALLENGE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66928" y="442569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How might we turn prospecting into one traceable workflow that saves time without removing human control?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02 •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One AI workspace from campaign idea to approved outreach.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LeadGenAI brings the high-friction steps of B2B prospecting into a single operator flow with explainable AI and approval checkpoints.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9496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Define campaign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Audience • location • offer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293620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12492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8796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58796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Discover leads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58796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CSV • URLs • Lead Agent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166616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85488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1792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1792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Research + score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1792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Fit • pain • CTA • reason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039612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58484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4788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04788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Draft outreach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4788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Email • reply • follow-up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7912608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31480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7784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05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77784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Call + learn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77784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Vapi • outcomes • next action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9785604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904476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0780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</a:rPr>
              <a:t>06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050780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Human approve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050780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Review before every send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388620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3945636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DISCOVERY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783080" y="38862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56232" y="39456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INTELLIGENCE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081528" y="388620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39456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OUTREACH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61104" y="3886200"/>
            <a:ext cx="932688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4256" y="394563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CALLING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40096" y="3886200"/>
            <a:ext cx="941832" cy="292608"/>
          </a:xfrm>
          <a:prstGeom prst="roundRect">
            <a:avLst>
              <a:gd name="adj" fmla="val 25000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39456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</a:rPr>
              <a:t>CONTROL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2648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Design principle: automate preparation; keep consequential external actions reviewable.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641080" y="432511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7384" y="44897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•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171432" y="443484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01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8805672" y="4946904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unified workspace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204704" y="432511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51008" y="44897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735056" y="443484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05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10369296" y="4946904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approval points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03 • COMPLETED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The project is beyond the idea stage: the main operating loop is implemented.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public repository documents the implemented MVP surface, integrations and the week-wise build progression.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129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9842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Campaigns + leads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3145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Create campaigns, upload CSVs, maintain campaign-wise lead tables, validate inputs.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15968" y="1828800"/>
            <a:ext cx="351129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74336" y="19842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Discovery + enrichment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8848" y="2523744"/>
            <a:ext cx="3145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Public-source discovery, website email extraction with pattern verification, and n8n Lead Agent automation.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83296" y="1828800"/>
            <a:ext cx="351129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41664" y="19842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AI research + scoring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66176" y="2523744"/>
            <a:ext cx="3145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Research summary, business fit, pain points, outreach angle, score and explainability.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51129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822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8816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07008" y="3813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Email + Gmail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4352544"/>
            <a:ext cx="3145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Gemini drafts, approval/rejection, Gmail OAuth, approved sending and reply checks.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315968" y="3657600"/>
            <a:ext cx="351129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822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8816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74336" y="3813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AI replies + follow-up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98848" y="4352544"/>
            <a:ext cx="3145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Intent, sentiment, priority, next action, response drafts and safe follow-up flow.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083296" y="3657600"/>
            <a:ext cx="351129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3822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8816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41664" y="38130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RAG + calling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66176" y="4352544"/>
            <a:ext cx="3145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Company knowledge, semantic/hybrid retrieval, Vapi AI calling, logs and outcomes.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66928" y="56509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Deployed on Vercel  •  public repository  •  20 API modules  •  17 services  •  17 tables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04 • END-TO-END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From target definition to measurable next action.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single lead can move through discovery, enrichment, research, scoring, outreach, calling, reply handling and follow-up while preserving status and context.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87452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837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Campaign context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1837944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Offer + industry + location + role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04088" y="21305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313432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2404872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2368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Lead sourcing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80360" y="236829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CSV / public URLs / Lead Agent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04088" y="2660904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2843784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" y="2935224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898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Email extraction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80360" y="289864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Visible public emails + pattern fallback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04088" y="3191256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374136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6928" y="346557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3429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AI enrichment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80360" y="3429000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Business type + pain points + fit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04088" y="3721608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904488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66928" y="39959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" y="3959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Scoring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80360" y="395935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Priority + reason + outreach angle + CTA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704088" y="4251960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434840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66928" y="45262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" y="4489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Outreach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80360" y="4489704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Gemini draft → human approval → Gmail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704088" y="478231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4965192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6928" y="5056632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5020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Conversation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0360" y="502005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Reply classification / AI call / outcome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704088" y="5312664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495544"/>
            <a:ext cx="41148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66928" y="5586984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" y="5550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Follow-up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80360" y="555040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Response or follow-up draft → approval → send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8887968" y="18288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052560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052560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546336" y="1984248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Status stays visible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070848" y="2523744"/>
            <a:ext cx="2331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Lead status, score, draft state, sent state, reply analytics and call outcome remain accessible to the operator.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8887968" y="3502152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9052560" y="3666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052560" y="37261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546336" y="365760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Actions stay reviewable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070848" y="4197096"/>
            <a:ext cx="2331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The product separates AI preparation from external sending and calling actions.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8887968" y="5175504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9052560" y="53400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9052560" y="53995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↺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546336" y="53309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Outcome loop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9070848" y="576072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Every interaction can produce a next action.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05 • LEAD DISCOVERY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Multiple lead-entry paths feed the same Leads table.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MVP supports manual and automated sourcing while keeping discovered contacts pending review before import.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295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39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5296" y="20299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CSV upload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569464"/>
            <a:ext cx="31638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Bulk lead intake with campaign linkage and invalid CSV validation.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5295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9704" y="2039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URL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0299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Public-source discovery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2569464"/>
            <a:ext cx="31638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User-provided URLs are reviewed first; readable public emails/phones are structured for approval.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5295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0391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0985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41664" y="20299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Lead Agent automation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66176" y="2569464"/>
            <a:ext cx="31638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Gemini generates search queries; n8n triggers Google Maps/Apify discovery and returns normalized leads.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172200" y="4005072"/>
            <a:ext cx="53492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69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42291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30568" y="416052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Safety boundary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355080" y="4700016"/>
            <a:ext cx="498348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LinkedIn scraping is not automated in the documented workflow. Discovery uses user-reviewed public source URLs or the configured Google Maps/Apify path.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585216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ONE LIVE CAMPAIGN  •  KANPUR INDUSTRIAL OUTREACH</a:t>
            </a:r>
          </a:p>
        </p:txBody>
      </p:sp>
      <p:pic>
        <p:nvPicPr>
          <p:cNvPr id="39" name="Picture 38" descr="lead-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24528"/>
            <a:ext cx="5349240" cy="1047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5216" y="541324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Sourced by the Lead Agent; every lead resolved to a public email address through website extraction and pattern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06 • AI RESEARCH + SCORING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Explainability is part of the lead decision.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Gemini combines campaign context, lead fields and lightweight public-site research to produce a concise enrichment profile and actionable scoring rationale.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5296" y="198424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Research profile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523744"/>
            <a:ext cx="3063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Business type, products/services, likely pain points, use-case fit, outreach angle, risk flags, sources and confidence.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224528" y="18288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82896" y="198424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Score + qualify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07408" y="2523744"/>
            <a:ext cx="3063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Priority labels with an explainable reason, recommended outreach angle, likely pain point and CTA.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882128" y="18288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0496" y="198424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Use the same context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65008" y="2523744"/>
            <a:ext cx="3063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The researched profile can feed scoring and cold-email generation instead of repeating research manually.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85216" y="38770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</a:rPr>
              <a:t>LIVE EXAMPLE • KANPUR CAMPAIGN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85216" y="42793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Fit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72768" y="4261104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9344" y="432511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A34A"/>
                </a:solidFill>
              </a:rPr>
              <a:t>95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374136" y="42793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Contact score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61688" y="4261104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432511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11D48"/>
                </a:solidFill>
              </a:rPr>
              <a:t>25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85216" y="49926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Final score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72768" y="4974336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9344" y="503834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97706"/>
                </a:solidFill>
              </a:rPr>
              <a:t>78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374136" y="49926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Verdict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61688" y="4974336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98264" y="503834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</a:rPr>
              <a:t>Right company, wrong contact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172200" y="3867912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0325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40919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30568" y="402336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Why it matters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355080" y="4562856"/>
            <a:ext cx="4983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Final = 0.75 × fit + 0.25 × contact confidence. Splitting the two separates “wrong company” from “right company, unusable email” — one means drop the lead, the other means find a better address.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07 • EMAIL + REPLY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Personalized outreach with human approval at the boundary.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outreach layer covers draft generation, approval, Gmail sending, reply checking, AI classification and response drafting.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9496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Draft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Gemini + context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293620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12492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8796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58796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58796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Approve / reject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166616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85488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1792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1792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1792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Gmail OAuth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039612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58484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4788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04788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Check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4788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Reply tracking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7912608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31480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7784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05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77784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Classify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77784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Intent + sentiment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9785604" y="255117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904476" y="2240280"/>
            <a:ext cx="17449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0780" y="2359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</a:rPr>
              <a:t>06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050780" y="2596896"/>
            <a:ext cx="1470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Respond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050780" y="2862072"/>
            <a:ext cx="147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Draft + approve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66928" y="397764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41422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2016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25296" y="413308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Cold email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49808" y="4672584"/>
            <a:ext cx="31546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Generated using campaign context and relevant company knowledge when available.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4325112" y="397764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9704" y="41422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9704" y="42016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83480" y="413308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Reply intelligence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507992" y="4672584"/>
            <a:ext cx="31546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Classifies intent, sentiment, priority, summary and suggested next action.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8083296" y="397764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47888" y="41422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42016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741664" y="413308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Follow-up safety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266176" y="4672584"/>
            <a:ext cx="31546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Follow-up and response messages become drafts; sending remains approval-gated.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49" name="Picture 48" descr="draft-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596128"/>
            <a:ext cx="6217920" cy="7151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967728" y="5705856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64748B"/>
                </a:solidFill>
                <a:latin typeface="Calibri"/>
              </a:rPr>
              <a:t>Live draft: generated subject, recipient and score breakdown — held in an approved state until the operator sends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08 • AI CALLING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Calling is a native step in the same lead workflow.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Selected leads can move into a Vapi-powered AI call, with call scripts, logs, outcomes, transcripts and next actions stored back in the system.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9496" y="2148840"/>
            <a:ext cx="2119579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2505456"/>
            <a:ext cx="18452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Select lead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770632"/>
            <a:ext cx="1845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Eligible + not Do-Not-Call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668219" y="245973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87091" y="2148840"/>
            <a:ext cx="2119579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33395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33395" y="2505456"/>
            <a:ext cx="18452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Generate script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33395" y="2770632"/>
            <a:ext cx="1845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Campaign + lead context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915814" y="245973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34686" y="2148840"/>
            <a:ext cx="2119579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8099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80990" y="2505456"/>
            <a:ext cx="18452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Start Vapi call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80990" y="2770632"/>
            <a:ext cx="1845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Backend-only API call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7163410" y="245973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82282" y="2148840"/>
            <a:ext cx="2119579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28586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28586" y="2505456"/>
            <a:ext cx="18452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Capture result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28586" y="2770632"/>
            <a:ext cx="1845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Transcript • sentiment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9411005" y="2459736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529877" y="2148840"/>
            <a:ext cx="2119579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76181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05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76181" y="2505456"/>
            <a:ext cx="18452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Create next step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76181" y="2770632"/>
            <a:ext cx="1845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Follow-up draft only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66928" y="3913632"/>
            <a:ext cx="35204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1520" y="4078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" y="41376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25296" y="40690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Call control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49808" y="4608576"/>
            <a:ext cx="315468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The backend validates calling conditions; Do-Not-Call leads are blocked before any Vapi request.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325112" y="3913632"/>
            <a:ext cx="35204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489704" y="4078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489704" y="41376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◎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0690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Call evidence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07992" y="4608576"/>
            <a:ext cx="315468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Provider call id, status, outcome, sentiment, transcript, summary, recording URL and next action can be stored.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083296" y="3913632"/>
            <a:ext cx="352044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247888" y="4078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47888" y="41376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41664" y="40690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No auto-send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266176" y="4608576"/>
            <a:ext cx="315468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Interested or details-requested calls can create follow-up email drafts, but the project does not silently send them.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44" name="Picture 43" descr="vapi-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504688"/>
            <a:ext cx="6309360" cy="56843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40880" y="568756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64748B"/>
                </a:solidFill>
                <a:latin typeface="Calibri"/>
              </a:rPr>
              <a:t>Outbound calls on the current provider plan are placed to a registered test number — a billing limit, not a missing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09 • KNOWLEDGE BASE + RAG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Ground outreach in company-specific facts.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knowledge layer stores product, pricing, FAQ, demo and objection-handling context and retrieves relevant chunks for AI-generated responses.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3911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1. Upload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7452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03911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2. Chunk + store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27064" y="187452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203911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3. Retrieve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43416" y="187452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2039112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4. Ground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" y="247802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PDF • DOCX • TXT • Markdown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75304" y="247802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Chunked company knowledge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91656" y="247802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Hybrid retrieval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08008" y="247802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Cold email • reply • follow-up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40964" y="21945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57316" y="21945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73668" y="219456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4360" y="3456432"/>
            <a:ext cx="34564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" y="3621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6804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52728" y="36118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Semantic path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77240" y="4151376"/>
            <a:ext cx="309067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When embeddings are available, Supabase/PostgreSQL pgvector supports semantic retrieval with hybrid and keyword fallback.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315968" y="3456432"/>
            <a:ext cx="34564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3621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36804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74336" y="36118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Grounding rule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498848" y="4151376"/>
            <a:ext cx="309067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Relevant facts are brought into the prompt; the system is not “training” the LLM on company documents.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037576" y="3456432"/>
            <a:ext cx="345643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02168" y="3621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02168" y="36804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95944" y="36118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Trust outcome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220456" y="4151376"/>
            <a:ext cx="309067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Pricing and demo replies prefer exact retrieved company facts and keep manual approval before sending.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10 •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 modular full-stack build with clear service boundaries.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deployed frontend runs on Vercel, the FastAPI backend on Render, and application data in Supabase PostgreSQL. External AI, Gmail, Vapi and n8n services plug in behind the backend.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18120" cy="758952"/>
          </a:xfrm>
          <a:prstGeom prst="roundRect">
            <a:avLst>
              <a:gd name="adj" fmla="val 7229"/>
            </a:avLst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659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USER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9842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React + Vite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4142232" y="19842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Tailwind CSS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227064" y="198424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Axios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7818120" cy="758952"/>
          </a:xfrm>
          <a:prstGeom prst="roundRect">
            <a:avLst>
              <a:gd name="adj" fmla="val 7229"/>
            </a:avLst>
          </a:prstGeom>
          <a:solidFill>
            <a:srgbClr val="EEF2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077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29260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FastAPI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4142232" y="29260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SQLAlchemy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6227064" y="29260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20 route modules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7818120" cy="758952"/>
          </a:xfrm>
          <a:prstGeom prst="roundRect">
            <a:avLst>
              <a:gd name="adj" fmla="val 7229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8496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38679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Supabase PostgreSQL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4142232" y="38679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pgvector / knowledge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6227064" y="38679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Lead + campaign records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40080" y="4608576"/>
            <a:ext cx="7818120" cy="758952"/>
          </a:xfrm>
          <a:prstGeom prst="roundRect">
            <a:avLst>
              <a:gd name="adj" fmla="val 7229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7914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INTEGRATIONS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400" y="480974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F172A"/>
                </a:solidFill>
              </a:rPr>
              <a:t>Gemini • Gmail • Vapi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4142232" y="480974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n8n • Apify / Maps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6227064" y="480974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F172A"/>
                </a:solidFill>
              </a:rPr>
              <a:t>Hunter (optional)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8869680" y="1938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Vercel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6968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Render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0" y="3822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Supabase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41080" y="468172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4232" y="474116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41080" y="5020056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4232" y="50794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MAIL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41080" y="5358384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4232" y="54178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CALLS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41080" y="5696712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14232" y="57561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AUTOMATION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8368" y="5650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Architecture principle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Secrets stay server-side; integrations are isolated behind backend calls.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11 • SAFETY +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Human-in-the-loop is a feature, not a limitation.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project deliberately separates AI preparation from consequential external actions.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56232"/>
            <a:ext cx="3474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020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802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2011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Approval-gated sending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551176"/>
            <a:ext cx="31089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Drafts are generated first. Email and response messages are sent only after explicit approval.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61688" y="1856232"/>
            <a:ext cx="3474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20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802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0056" y="2011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Do-Not-Call guard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44568" y="2551176"/>
            <a:ext cx="31089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Calling requests are blocked for leads marked Do-Not-Call before reaching Vapi.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29016" y="1856232"/>
            <a:ext cx="3474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0208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0802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87384" y="2011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Credential isolation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11896" y="2551176"/>
            <a:ext cx="31089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Gemini and Gmail credentials are kept on the backend and loaded from environment variables.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94360" y="3858768"/>
            <a:ext cx="3474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0827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2728" y="40142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Reviewed discovery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4553712"/>
            <a:ext cx="31089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User-provided public source URLs are fetched; discovered contacts remain pending until reviewed/imported.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361688" y="3858768"/>
            <a:ext cx="3474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0827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0056" y="40142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Grounded responses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44568" y="4553712"/>
            <a:ext cx="31089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Relevant knowledge is retrieved to reduce unsupported pricing/product claims.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129016" y="3858768"/>
            <a:ext cx="34747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40827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87384" y="40142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Auditable outcomes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11896" y="4553712"/>
            <a:ext cx="31089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Call logs, statuses, transcripts, response states and message ids provide a traceable record.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12 • PRODUCT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The dashboard is organized around decisions, not infrastructure.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operator can move from campaign → leads → research → outreach → calls → analytics without leaving the product workflow.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27848" y="1920240"/>
            <a:ext cx="36393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092440" y="2084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092440" y="21442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86216" y="207568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One-screen context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8110728" y="2615184"/>
            <a:ext cx="32735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Campaigns, leads, scores, drafts and actions stay connected.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7927848" y="3419856"/>
            <a:ext cx="36393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8092440" y="3584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092440" y="36438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UX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586216" y="357530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Action-oriented states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110728" y="4114800"/>
            <a:ext cx="32735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The interface exposes next best actions instead of only raw data.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7927848" y="4919472"/>
            <a:ext cx="3639312" cy="104241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092440" y="5084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092440" y="51435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586216" y="507492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Demo-ready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8110728" y="5449824"/>
            <a:ext cx="32735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Live screenshot from the deployed app — real campaign and lead data.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63" name="Picture 62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6903720" cy="35566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13 • TECHNOLOGY + 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Modern stack, intentionally modular.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documented MVP uses React/Vite/Tailwind on Vercel, FastAPI/SQLAlchemy on Render, Supabase PostgreSQL for data, and external AI/automation services.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751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345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196596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Frontend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52728" y="2231136"/>
            <a:ext cx="26791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React • Vite • Tailwind • Axios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89120" y="1810512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9751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0345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7488" y="196596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Backend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47488" y="2231136"/>
            <a:ext cx="26791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FastAPI • SQLAlchemy • Python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94360" y="2633472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575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2728" y="278892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Database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52728" y="3054096"/>
            <a:ext cx="26791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Supabase PostgreSQL • pgvector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389120" y="2633472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8575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278892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47488" y="3054096"/>
            <a:ext cx="26791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Gemini 2.5 Flash • hybrid RAG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94360" y="3456432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3621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36804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52728" y="36118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Outreach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52728" y="3877056"/>
            <a:ext cx="26791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Gmail OAuth • public extraction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4389120" y="3456432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36210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36804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47488" y="36118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Automation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047488" y="3877056"/>
            <a:ext cx="26791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n8n • Apify / Google Maps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94360" y="4279392"/>
            <a:ext cx="35204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44439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5034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52728" y="443484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Calling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52728" y="4700016"/>
            <a:ext cx="26791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Vapi API • webhooks • logs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211312" y="1810512"/>
            <a:ext cx="3355848" cy="1947672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75904" y="19751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75904" y="20345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↗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69680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Deployment map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394192" y="2505456"/>
            <a:ext cx="299008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Frontend → Vercel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Backend → Render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Data → Supabase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AI / integrations → backend-managed keys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8211312" y="3968496"/>
            <a:ext cx="335584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75904" y="41330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75904" y="41925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869680" y="41239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Configuration rule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394192" y="4663440"/>
            <a:ext cx="299008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Secrets are stored through deployment environment variables; real secrets are not committed to source control.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14 • IMPACT + EVALUATION FIT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The final build maps directly to Prasunethon’s scoring criteria.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strongest story is not one AI feature; it is the completeness of the workflow and the control built around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1984248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Innovation • 25%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523744"/>
            <a:ext cx="4892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AI discovery + enrichment + explainable scoring + RAG + AI calling in one operating loop.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3291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3512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52728" y="328269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Technical implementation • 25%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3822192"/>
            <a:ext cx="4892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React/FastAPI/Supabase architecture with Gmail, Gemini, Vapi and n8n integrations.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94360" y="4425696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45902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6497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2728" y="458114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Problem solving • 20%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120640"/>
            <a:ext cx="4892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Replaces fragmented prospecting steps with a traceable, repeatable workflow.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144768" y="1828800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9933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0528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1984248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UX • 15%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27648" y="2523744"/>
            <a:ext cx="4892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Operator-first dashboard, visible states, review checkpoints and campaign analytics.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144768" y="3127248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291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3512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03136" y="328269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Scalability + impact • 15%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27648" y="3822192"/>
            <a:ext cx="4892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Modular integrations, shared lead/campaign data and automation-ready workflow.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17220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</a:rPr>
              <a:t>EXPECTED BUSINESS EFFECT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172200" y="48646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Less tool switching → faster qualification → more consistent outreach → better visibility into replies and next actions.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8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15 •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From a completed MVP to a stronger production system.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current project is demonstrable; the next improvements focus on scale, reliability and deeper evaluation.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810512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76656" y="1869948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36192" y="181965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Live MVP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7269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Deployed frontend • documented backend • integrated AI, email, RAG, calling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67512" y="2194560"/>
            <a:ext cx="0" cy="640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852928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" y="2912364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NEXT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36192" y="286207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Reliability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0" y="2862072"/>
            <a:ext cx="7269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Automated regression tests • observability • retry strategy • stronger validation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67512" y="3236976"/>
            <a:ext cx="0" cy="640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3504" y="3895344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6656" y="3954780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SCALE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36192" y="390448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Operations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3904488"/>
            <a:ext cx="7269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Multi-tenant workspaces • queues • rate controls • role-based access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67512" y="4279392"/>
            <a:ext cx="0" cy="640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3504" y="493776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6656" y="4997196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GROW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36192" y="494690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Intelligence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08960" y="4946904"/>
            <a:ext cx="7269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Better lead-quality feedback loops • campaign optimization • outcome-based learning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03504" y="5614416"/>
            <a:ext cx="10927080" cy="7315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68096" y="5779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8096" y="58384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61872" y="5724144"/>
            <a:ext cx="10085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Target outcome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61872" y="5980176"/>
            <a:ext cx="100858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 sales copilot that is measurable, reviewable and resilient enough for real operational use.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795528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TEAM AVENGERS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Built as a complete product, not just a prototype screen.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34564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2368296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51460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Raj Gautam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563EB"/>
                </a:solidFill>
              </a:rPr>
              <a:t>Team Leader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758952" y="30723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Product direction • coordination • final presentation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4564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368296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1460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22860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Priyanshu Kumar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5257800" y="2587752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7C3AED"/>
                </a:solidFill>
              </a:rPr>
              <a:t>Member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553712" y="30723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Engineering • integration • workflow execution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83880" y="2148840"/>
            <a:ext cx="34564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8472" y="2368296"/>
            <a:ext cx="566928" cy="5669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251460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22860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Sampath Kumar Midde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9052560" y="2587752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6A34A"/>
                </a:solidFill>
              </a:rPr>
              <a:t>Member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8348472" y="30723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AI/data • documentation • deployment support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" y="4224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</a:rPr>
              <a:t>LIVE PRODUCT</a:t>
            </a:r>
            <a:endParaRPr lang="en-US" sz="880" dirty="0"/>
          </a:p>
        </p:txBody>
      </p:sp>
      <p:sp>
        <p:nvSpPr>
          <p:cNvPr id="23" name="Text 21">
            <a:hlinkClick r:id="rId1" tooltip=""/>
          </p:cNvPr>
          <p:cNvSpPr/>
          <p:nvPr/>
        </p:nvSpPr>
        <p:spPr>
          <a:xfrm>
            <a:off x="603504" y="4590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https://ai-lead-generation-mvp.vercel.app/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4768" y="4224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</a:rPr>
              <a:t>SOURCE CODE</a:t>
            </a:r>
            <a:endParaRPr lang="en-US" sz="880" dirty="0"/>
          </a:p>
        </p:txBody>
      </p:sp>
      <p:sp>
        <p:nvSpPr>
          <p:cNvPr id="25" name="Text 23">
            <a:hlinkClick r:id="rId2" tooltip=""/>
          </p:cNvPr>
          <p:cNvSpPr/>
          <p:nvPr/>
        </p:nvSpPr>
        <p:spPr>
          <a:xfrm>
            <a:off x="6144768" y="45902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u="sng" dirty="0">
                <a:solidFill>
                  <a:srgbClr val="2563EB"/>
                </a:solidFill>
                <a:uFill>
                  <a:solidFill>
                    <a:srgbClr val="2563EB"/>
                  </a:solidFill>
                </a:u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https://github.com/FasterThanAi/ai-lead-generation-mvp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" y="5532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Thank you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874520" y="5577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Live demo • architecture • Q&amp;A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Team Avengers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LeadGenAI – AI-Powered Lead Generation &amp; Sales Automation</dc:title>
  <dc:subject>Prasunethon 2.0 – Final Project Presentation</dc:subject>
  <dc:creator>Team Avengers</dc:creator>
  <cp:lastModifiedBy>Team Avengers</cp:lastModifiedBy>
  <cp:revision>1</cp:revision>
  <dcterms:created xsi:type="dcterms:W3CDTF">2026-08-22T08:33:53Z</dcterms:created>
  <dcterms:modified xsi:type="dcterms:W3CDTF">2026-08-22T08:33:53Z</dcterms:modified>
</cp:coreProperties>
</file>